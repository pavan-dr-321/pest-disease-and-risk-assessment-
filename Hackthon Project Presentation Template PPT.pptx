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90" r:id="rId13"/>
    <p:sldId id="285" r:id="rId14"/>
    <p:sldId id="291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7C2DA9E-4F47-1705-CC0B-6B25E6DC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58AA310-F456-9C5D-75E9-790D7BD97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36FAADC-7607-B0D5-A811-CB6685916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09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F63C69C-D55E-7B94-8C41-94C2FB79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947D828-9381-E3D0-8AE1-7B66D9D2D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4A68555-179D-042C-C708-B234BE577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98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van-dr-321/pest-disease-and-risk-assessment-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ho.int/teams/control-of-neglected-tropical-diseases/vector-ecology-and-management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fao.org/agriculture/crops/thematic-sitemap/theme/pests/ipm/en/" TargetMode="External"/><Relationship Id="rId12" Type="http://schemas.openxmlformats.org/officeDocument/2006/relationships/hyperlink" Target="https://research.ibm.com/blog/retrieval-augmented-genera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angflow.org/" TargetMode="External"/><Relationship Id="rId11" Type="http://schemas.openxmlformats.org/officeDocument/2006/relationships/hyperlink" Target="https://public.wmo.int/en/our-mandate/climate" TargetMode="External"/><Relationship Id="rId5" Type="http://schemas.openxmlformats.org/officeDocument/2006/relationships/hyperlink" Target="https://www.ibm.com/granite" TargetMode="External"/><Relationship Id="rId10" Type="http://schemas.openxmlformats.org/officeDocument/2006/relationships/hyperlink" Target="https://ieeexplore.ieee.org/document/8457012" TargetMode="External"/><Relationship Id="rId4" Type="http://schemas.openxmlformats.org/officeDocument/2006/relationships/hyperlink" Target="https://www.ibm.com/products/watsonx-ai" TargetMode="External"/><Relationship Id="rId9" Type="http://schemas.openxmlformats.org/officeDocument/2006/relationships/hyperlink" Target="https://www.usda.gov/topics/crop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AI Based System for Pest and Disease Risk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62426649"/>
              </p:ext>
            </p:extLst>
          </p:nvPr>
        </p:nvGraphicFramePr>
        <p:xfrm>
          <a:off x="1615440" y="1942025"/>
          <a:ext cx="7211812" cy="41185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570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Pavan D R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pavandr429@gmail.com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8088317032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 G Ravidas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ravidassg855@gmail.com</a:t>
                      </a: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6366045713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Punith Gowda G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punithgowdag789@gmail.com</a:t>
                      </a:r>
                      <a:endParaRPr sz="11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dirty="0"/>
                        <a:t>7899688155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16506D-DC10-31D0-4327-CDB2927A6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318" y="3824586"/>
            <a:ext cx="766139" cy="1280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7FEB3C-B014-D133-9B63-31675D5A5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18" y="2875280"/>
            <a:ext cx="766139" cy="949306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19E90850-6FE5-B979-5A55-DA49C16D1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1047C3-A917-4D0A-E4C2-9D57EBCE6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318" y="5104939"/>
            <a:ext cx="766139" cy="9770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5056" y="1435509"/>
            <a:ext cx="1065935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Farmers face severe crop losses due to </a:t>
            </a:r>
            <a:r>
              <a:rPr lang="en-US" sz="2400" b="1" dirty="0"/>
              <a:t>late detection of pests and plant diseases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Current challenges include:</a:t>
            </a:r>
          </a:p>
          <a:p>
            <a:r>
              <a:rPr lang="en-US" sz="2400" dirty="0"/>
              <a:t>Manual crop inspection – time-consuming and error-prone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Lack of real-time pest risk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Poor access to expert agricultural advice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Climate variability increasing pest outbreaks</a:t>
            </a:r>
          </a:p>
          <a:p>
            <a:r>
              <a:rPr lang="en-US" sz="2400" dirty="0"/>
              <a:t>This results in </a:t>
            </a:r>
            <a:r>
              <a:rPr lang="en-US" sz="2400" b="1" dirty="0"/>
              <a:t>reduced yield, higher costs, and food insecurity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893255" y="1584102"/>
            <a:ext cx="10381297" cy="48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We propose an </a:t>
            </a:r>
            <a:r>
              <a:rPr lang="en-US" sz="2400" b="1" dirty="0"/>
              <a:t>Agentic AI-based Pest and Disease Risk Assessment System</a:t>
            </a:r>
            <a:r>
              <a:rPr lang="en-US" sz="2400" dirty="0"/>
              <a:t> that: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Analyzes crop images uploaded by farmers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Uses weather and historical pest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Predicts pest/disease risk levels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Provides early warnings and preventive recommendations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Powered by </a:t>
            </a:r>
            <a:r>
              <a:rPr lang="en-US" sz="2400" b="1" dirty="0"/>
              <a:t>IBM Granite Model</a:t>
            </a:r>
            <a:r>
              <a:rPr lang="en-US" sz="2400" dirty="0"/>
              <a:t> using </a:t>
            </a:r>
            <a:r>
              <a:rPr lang="en-US" sz="2400" b="1" dirty="0"/>
              <a:t>Langflow Agentic AI architecture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2AB3F3B9-EC3F-2423-CACB-5AC4944C6A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34441" y="1551163"/>
            <a:ext cx="9733936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crop loss due to pests and diseases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intervention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farmers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agricultural productivity and sustainability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agricultural officers in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995112" y="641261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35EEB0D-BA24-E63A-6E96-858303F0383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95112" y="1336594"/>
            <a:ext cx="10274710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Officers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Agri-tech Companies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Policy Makers</a:t>
            </a:r>
          </a:p>
        </p:txBody>
      </p:sp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47743" y="232431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80103" y="622788"/>
            <a:ext cx="1067340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Langflow Platform</a:t>
            </a:r>
            <a:endParaRPr lang="en-IN" sz="2400" dirty="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Agent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Chat Input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Chat Output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SearchApi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URL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Granite Model</a:t>
            </a:r>
            <a:endParaRPr lang="en-IN" sz="2400" dirty="0"/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ibm-granite-3-2-8b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Watsonx.ai</a:t>
            </a:r>
            <a:endParaRPr lang="en-I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IBM Cloud RAG (Retrieval Augmented Generation)</a:t>
            </a:r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2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00C0EEC-0144-FB9E-97E6-5D0B5256C3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49672" y="1777529"/>
            <a:ext cx="10078064" cy="224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images + climate data + GenAI Agentic reasoning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pest and disease risk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Granite-guarded outputs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reliable, unbiased advice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 for small and large farms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D23455E-20F6-FABE-5559-8E1CC12722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8" name="Picture 4" descr="Flow chart diagram of a Pest &amp; Disease Risk Assessment System inspired by the environmental alert architecture. It includes edge sensors like ESP32 with BME288 and MQ135 for field data collection, a data pipeline with enrichment APIs, a RAG layer using LangChain and WHO/bylaws for contextual risk documents, an AI planner using IBM watsonx.ai or LLaMA for action generation, a Granite Guardrail for filtering unsafe outputs, and user outputs like alerts via Twilio and visualizations via React/Leaflet. Cloud infrastructure includes IBM Cloud and AWS. Highlight risks like sensor data loss and unsafe recommendations.">
            <a:extLst>
              <a:ext uri="{FF2B5EF4-FFF2-40B4-BE49-F238E27FC236}">
                <a16:creationId xmlns:a16="http://schemas.microsoft.com/office/drawing/2014/main" id="{5919116C-8922-CE6D-E5DB-7B1C89C02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1246465"/>
            <a:ext cx="7670800" cy="432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1F3F401-5DE1-74E9-B512-0EA51EC3EE5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7589" y="638161"/>
            <a:ext cx="9963263" cy="590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Input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 AI Agent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/ RAG Component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Output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2000" b="1" dirty="0"/>
              <a:t>Langflow Components Explanation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000" b="1" dirty="0"/>
              <a:t>Chat Input</a:t>
            </a:r>
            <a:endParaRPr lang="en-IN" sz="2000" dirty="0"/>
          </a:p>
          <a:p>
            <a:r>
              <a:rPr lang="en-IN" sz="2000" dirty="0"/>
              <a:t>Accepts crop details, symptoms, and images from farmers</a:t>
            </a:r>
          </a:p>
          <a:p>
            <a:r>
              <a:rPr lang="en-IN" sz="2000" b="1" dirty="0"/>
              <a:t>2) IBM Watsonx AI Agent</a:t>
            </a:r>
            <a:endParaRPr lang="en-IN" sz="2000" dirty="0"/>
          </a:p>
          <a:p>
            <a:r>
              <a:rPr lang="en-IN" sz="2000" dirty="0"/>
              <a:t>Performs reasoning, prediction, and decision-making</a:t>
            </a:r>
          </a:p>
          <a:p>
            <a:r>
              <a:rPr lang="en-IN" sz="2000" b="1" dirty="0"/>
              <a:t>3) File / RAG Component</a:t>
            </a:r>
            <a:endParaRPr lang="en-IN" sz="2000" dirty="0"/>
          </a:p>
          <a:p>
            <a:r>
              <a:rPr lang="en-IN" sz="2000" dirty="0"/>
              <a:t>Retrieves pest &amp; disease knowledge from agricultural datasets</a:t>
            </a:r>
          </a:p>
          <a:p>
            <a:r>
              <a:rPr lang="en-IN" sz="2000" b="1" dirty="0"/>
              <a:t>4) Chat Output</a:t>
            </a:r>
            <a:endParaRPr lang="en-IN" sz="2000" dirty="0"/>
          </a:p>
          <a:p>
            <a:r>
              <a:rPr lang="en-IN" sz="2000" dirty="0"/>
              <a:t>Displays risk assessment and recommended actions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5A3865A-3596-5C2D-3FC4-FB703E11F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2FD3823-E49D-F118-FDEE-A964734C9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030E394-13EA-734A-2914-861049E8E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4FE1E092-A2DB-DE1A-3463-0E3023AF0C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875A0BE-188E-3972-4B9D-2C7748CECD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81E310DA-5989-9299-6F0F-3E6F65E4EF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EACAED-FABA-D48F-3C14-B722CF1E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1179871"/>
            <a:ext cx="8868697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73DAA52-8E37-3B5B-D761-D8CFB110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CF284-AD85-01F6-55AF-20E4B504353A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5B8E6-A736-5902-B905-D889FED4C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3C727AB-B0A6-330F-16E3-C596E0D4E7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4187BF6-20CD-F656-D8DF-935DB3EADA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B59F6AA-3035-14B1-5E57-1824F73CAD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49445" y="882445"/>
            <a:ext cx="3003755" cy="300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67260A2-4BFA-93C9-637E-82DCC101C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1818968"/>
            <a:ext cx="2067232" cy="206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3D2ADB3-BBE9-173E-39B1-E56B8B3CD5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CB8D8F9A-4FE3-5979-BE5F-6130CBA818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2903" y="1265903"/>
            <a:ext cx="2467897" cy="246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59FFD-D8A8-6500-FF0F-FAC2B14A1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026" y="1179871"/>
            <a:ext cx="8868697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5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051E8A-3C32-877D-D6C0-DFA4AFFA3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12" y="751833"/>
            <a:ext cx="10261498" cy="48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E77274C-8DEA-6949-D867-CE0237B5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A2F5FA-CB9D-1DB6-744B-47DB4202F1BE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4DF7E-D363-8757-82F5-BCFE841F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634143-653D-DAC9-31ED-5B44FDF65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65" y="816076"/>
            <a:ext cx="10822258" cy="506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4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1EE82E-9E59-D740-B767-3F4474348B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19123" y="1438407"/>
            <a:ext cx="9214580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IoT sensors for real-time monitoring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for farmers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 (regional languages)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pesticide &amp; fertilizer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advisory integration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https://github.com/Pavan-dr-321/pest-disease-and-risk-assessment-.git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82732" y="68335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19E9A1-6EDC-812E-19BD-2E868BCA82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0270" y="924233"/>
            <a:ext cx="9625782" cy="56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/>
              <a:t>IBM watsonx.ai Documentation</a:t>
            </a:r>
            <a:br>
              <a:rPr lang="en-IN" sz="1600" dirty="0"/>
            </a:br>
            <a:r>
              <a:rPr lang="en-IN" sz="1600" dirty="0">
                <a:hlinkClick r:id="rId4"/>
              </a:rPr>
              <a:t>https://www.ibm.com/products/watsonx-ai</a:t>
            </a:r>
            <a:endParaRPr lang="en-IN" sz="1600" dirty="0"/>
          </a:p>
          <a:p>
            <a:r>
              <a:rPr lang="en-IN" sz="1600" b="1" dirty="0"/>
              <a:t>IBM Granite Foundation Models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https://www.ibm.com/granite</a:t>
            </a:r>
            <a:endParaRPr lang="en-IN" sz="1600" dirty="0"/>
          </a:p>
          <a:p>
            <a:r>
              <a:rPr lang="en-IN" sz="1600" b="1" dirty="0"/>
              <a:t>Langflow – Agentic AI Workflow Platform</a:t>
            </a:r>
            <a:br>
              <a:rPr lang="en-IN" sz="1600" dirty="0"/>
            </a:br>
            <a:r>
              <a:rPr lang="en-IN" sz="1600" dirty="0">
                <a:hlinkClick r:id="rId6"/>
              </a:rPr>
              <a:t>https://www.langflow.org</a:t>
            </a:r>
            <a:endParaRPr lang="en-IN" sz="1600" dirty="0"/>
          </a:p>
          <a:p>
            <a:r>
              <a:rPr lang="en-IN" sz="1600" b="1" dirty="0"/>
              <a:t>FAO – Pest and Disease Risk Assessment Resources</a:t>
            </a:r>
            <a:br>
              <a:rPr lang="en-IN" sz="1600" dirty="0"/>
            </a:br>
            <a:r>
              <a:rPr lang="en-IN" sz="1600" dirty="0"/>
              <a:t>https://www.fao.org/plant-health/en/</a:t>
            </a:r>
          </a:p>
          <a:p>
            <a:r>
              <a:rPr lang="en-IN" sz="1600" b="1" dirty="0"/>
              <a:t>FAO – Integrated Pest Management (IPM)</a:t>
            </a:r>
            <a:br>
              <a:rPr lang="en-IN" sz="1600" dirty="0"/>
            </a:br>
            <a:r>
              <a:rPr lang="en-IN" sz="1600" dirty="0">
                <a:hlinkClick r:id="rId7"/>
              </a:rPr>
              <a:t>https://www.fao.org/agriculture/crops/thematic-sitemap/theme/pests/ipm/en/</a:t>
            </a:r>
            <a:endParaRPr lang="en-IN" sz="1600" dirty="0"/>
          </a:p>
          <a:p>
            <a:r>
              <a:rPr lang="en-IN" sz="1600" b="1" dirty="0"/>
              <a:t>World Health Organization (WHO) – Vector &amp; Pest Control Guidelines</a:t>
            </a:r>
            <a:br>
              <a:rPr lang="en-IN" sz="1600" dirty="0"/>
            </a:br>
            <a:r>
              <a:rPr lang="en-IN" sz="1600" dirty="0">
                <a:hlinkClick r:id="rId8"/>
              </a:rPr>
              <a:t>https://www.who.int/teams/control-of-neglected-tropical-diseases/vector-ecology-and-management</a:t>
            </a:r>
            <a:endParaRPr lang="en-IN" sz="1600" dirty="0"/>
          </a:p>
          <a:p>
            <a:r>
              <a:rPr lang="en-IN" sz="1600" b="1" dirty="0"/>
              <a:t>USDA – Crop Pest and Disease Management</a:t>
            </a:r>
            <a:br>
              <a:rPr lang="en-IN" sz="1600" dirty="0"/>
            </a:br>
            <a:r>
              <a:rPr lang="en-IN" sz="1600" dirty="0">
                <a:hlinkClick r:id="rId9"/>
              </a:rPr>
              <a:t>https://www.usda.gov/topics/crops</a:t>
            </a:r>
            <a:endParaRPr lang="en-IN" sz="1600" dirty="0"/>
          </a:p>
          <a:p>
            <a:r>
              <a:rPr lang="en-IN" sz="1600" b="1" dirty="0"/>
              <a:t>Research Paper: Deep Learning for Plant Disease Detection</a:t>
            </a:r>
            <a:br>
              <a:rPr lang="en-IN" sz="1600" dirty="0"/>
            </a:br>
            <a:r>
              <a:rPr lang="en-IN" sz="1600" dirty="0">
                <a:hlinkClick r:id="rId10"/>
              </a:rPr>
              <a:t>https://ieeexplore.ieee.org/document/8457012</a:t>
            </a:r>
            <a:endParaRPr lang="en-IN" sz="1600" dirty="0"/>
          </a:p>
          <a:p>
            <a:r>
              <a:rPr lang="en-IN" sz="1600" b="1" dirty="0"/>
              <a:t>Climate Data for Agriculture – World Meteorological Organization (WMO)</a:t>
            </a:r>
            <a:br>
              <a:rPr lang="en-IN" sz="1600" dirty="0"/>
            </a:br>
            <a:r>
              <a:rPr lang="en-IN" sz="1600" dirty="0">
                <a:hlinkClick r:id="rId11"/>
              </a:rPr>
              <a:t>https://public.wmo.int/en/our-mandate/climate</a:t>
            </a:r>
            <a:endParaRPr lang="en-IN" sz="1600" dirty="0"/>
          </a:p>
          <a:p>
            <a:r>
              <a:rPr lang="en-IN" sz="1600" b="1" dirty="0"/>
              <a:t>Retrieval Augmented Generation (RAG) – IBM Research</a:t>
            </a:r>
            <a:br>
              <a:rPr lang="en-IN" sz="1600" dirty="0"/>
            </a:br>
            <a:r>
              <a:rPr lang="en-IN" sz="1600" dirty="0">
                <a:hlinkClick r:id="rId12"/>
              </a:rPr>
              <a:t>https://research.ibm.com/blog/retrieval-augmented-generation</a:t>
            </a:r>
            <a:endParaRPr lang="en-IN" sz="1600" dirty="0"/>
          </a:p>
          <a:p>
            <a:endParaRPr lang="en-I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689</Words>
  <Application>Microsoft Office PowerPoint</Application>
  <PresentationFormat>Widescreen</PresentationFormat>
  <Paragraphs>117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Agentic AI Hackathon: AI Based System for Pest and Disease Risk Assessment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Punith Gowda G</cp:lastModifiedBy>
  <cp:revision>117</cp:revision>
  <dcterms:created xsi:type="dcterms:W3CDTF">2025-07-08T05:06:56Z</dcterms:created>
  <dcterms:modified xsi:type="dcterms:W3CDTF">2026-02-02T07:20:09Z</dcterms:modified>
</cp:coreProperties>
</file>