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83" r:id="rId2"/>
    <p:sldId id="257" r:id="rId3"/>
    <p:sldId id="282" r:id="rId4"/>
    <p:sldId id="259" r:id="rId5"/>
    <p:sldId id="287" r:id="rId6"/>
    <p:sldId id="288" r:id="rId7"/>
    <p:sldId id="278" r:id="rId8"/>
    <p:sldId id="273" r:id="rId9"/>
    <p:sldId id="262" r:id="rId10"/>
    <p:sldId id="281" r:id="rId11"/>
    <p:sldId id="279" r:id="rId12"/>
    <p:sldId id="290" r:id="rId13"/>
    <p:sldId id="285" r:id="rId14"/>
    <p:sldId id="291" r:id="rId15"/>
    <p:sldId id="280" r:id="rId16"/>
    <p:sldId id="277" r:id="rId17"/>
    <p:sldId id="289" r:id="rId18"/>
    <p:sldId id="27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6493C2-F961-AE6C-C78A-A3E397BAC3D1}" v="77" dt="2026-01-24T07:12:45.064"/>
    <p1510:client id="{857E11F3-F11C-6843-C73E-27677A40A984}" v="240" dt="2026-01-24T07:27:37.625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EF10545-1A46-607A-9459-61E8362F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5957A8EB-ADFD-B035-BD54-1E8A3CB3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20716EB-D155-31F5-DA5A-E1CD60F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53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404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07C2DA9E-4F47-1705-CC0B-6B25E6DC8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8AA310-F456-9C5D-75E9-790D7BD97A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A36FAADC-7607-B0D5-A811-CB6685916A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0999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A63A9C66-2952-903D-83F1-D9F7981B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DC0C7460-0316-B69D-13B6-FF07EC57B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0173EAB6-F44B-63ED-F869-2979BED7C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313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F63C69C-D55E-7B94-8C41-94C2FB794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4947D828-9381-E3D0-8AE1-7B66D9D2D3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B4A68555-179D-042C-C708-B234BE5776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5985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van-dr-321/pest-disease-and-risk-assessment-.gi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ho.int/teams/control-of-neglected-tropical-diseases/vector-ecology-and-management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fao.org/agriculture/crops/thematic-sitemap/theme/pests/ipm/en/" TargetMode="External"/><Relationship Id="rId12" Type="http://schemas.openxmlformats.org/officeDocument/2006/relationships/hyperlink" Target="https://research.ibm.com/blog/retrieval-augmented-generation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angflow.org/" TargetMode="External"/><Relationship Id="rId11" Type="http://schemas.openxmlformats.org/officeDocument/2006/relationships/hyperlink" Target="https://public.wmo.int/en/our-mandate/climate" TargetMode="External"/><Relationship Id="rId5" Type="http://schemas.openxmlformats.org/officeDocument/2006/relationships/hyperlink" Target="https://www.ibm.com/granite" TargetMode="External"/><Relationship Id="rId10" Type="http://schemas.openxmlformats.org/officeDocument/2006/relationships/hyperlink" Target="https://ieeexplore.ieee.org/document/8457012" TargetMode="External"/><Relationship Id="rId4" Type="http://schemas.openxmlformats.org/officeDocument/2006/relationships/hyperlink" Target="https://www.ibm.com/products/watsonx-ai" TargetMode="External"/><Relationship Id="rId9" Type="http://schemas.openxmlformats.org/officeDocument/2006/relationships/hyperlink" Target="https://www.usda.gov/topics/crops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81583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Agentic AI Hackathon: AI Based System for Pest and Disease Risk 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endParaRPr lang="en-US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0813B-BF9E-B61A-92D0-FA37C990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481943" y="1219200"/>
            <a:ext cx="7301728" cy="27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 </a:t>
            </a:r>
            <a:r>
              <a:rPr lang="en-US" sz="3500" b="1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</a:t>
            </a:r>
            <a:r>
              <a:rPr lang="en-US" sz="35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95" name="Google Shape;95;p2"/>
          <p:cNvSpPr txBox="1"/>
          <p:nvPr/>
        </p:nvSpPr>
        <p:spPr>
          <a:xfrm>
            <a:off x="2190457" y="1490505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62426649"/>
              </p:ext>
            </p:extLst>
          </p:nvPr>
        </p:nvGraphicFramePr>
        <p:xfrm>
          <a:off x="1615440" y="1942025"/>
          <a:ext cx="7211812" cy="411853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1570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0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1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TEAM MEMBER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Pavan D R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pavandr429@gmail.com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8088317032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2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S G Ravidas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ravidassg855@gmail.com</a:t>
                      </a:r>
                      <a:endParaRPr sz="11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6366045713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/>
                        <a:t>Punith Gowda G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punithgowdag789@gmail.com</a:t>
                      </a:r>
                      <a:endParaRPr sz="11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/>
                        <a:t>7899688155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3071BE8-5070-42BA-3450-6F0039B85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16506D-DC10-31D0-4327-CDB2927A6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318" y="3824586"/>
            <a:ext cx="766139" cy="12803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7FEB3C-B014-D133-9B63-31675D5A55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318" y="2875280"/>
            <a:ext cx="766139" cy="949306"/>
          </a:xfrm>
          <a:prstGeom prst="rect">
            <a:avLst/>
          </a:prstGeom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19E90850-6FE5-B979-5A55-DA49C16D18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1047C3-A917-4D0A-E4C2-9D57EBCE64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6318" y="5104939"/>
            <a:ext cx="766139" cy="9770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805056" y="1435509"/>
            <a:ext cx="10659357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Farmers face severe crop losses due to </a:t>
            </a:r>
            <a:r>
              <a:rPr lang="en-US" sz="2400" b="1" dirty="0"/>
              <a:t>late detection of pests and plant diseases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Current challenges include:</a:t>
            </a:r>
          </a:p>
          <a:p>
            <a:r>
              <a:rPr lang="en-US" sz="2400" dirty="0"/>
              <a:t>Manual crop inspection – time-consuming and error-prone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Lack of real-time pest risk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Poor access to expert agricultural advice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Climate variability increasing pest outbreaks</a:t>
            </a:r>
          </a:p>
          <a:p>
            <a:r>
              <a:rPr lang="en-US" sz="2400" dirty="0"/>
              <a:t>This results in </a:t>
            </a:r>
            <a:r>
              <a:rPr lang="en-US" sz="2400" b="1" dirty="0"/>
              <a:t>reduced yield, higher costs, and food insecurity</a:t>
            </a:r>
            <a:r>
              <a:rPr lang="en-US" sz="2400" dirty="0"/>
              <a:t>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7FE32-8AA8-E540-E0AA-C9737C71A0E2}"/>
              </a:ext>
            </a:extLst>
          </p:cNvPr>
          <p:cNvSpPr txBox="1"/>
          <p:nvPr/>
        </p:nvSpPr>
        <p:spPr>
          <a:xfrm>
            <a:off x="805056" y="447690"/>
            <a:ext cx="32268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Problem statement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64CCA-ED49-69BC-3595-2C1CBD5E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44C99C-C879-4B03-F7F7-7306F7D33083}"/>
              </a:ext>
            </a:extLst>
          </p:cNvPr>
          <p:cNvSpPr txBox="1"/>
          <p:nvPr/>
        </p:nvSpPr>
        <p:spPr>
          <a:xfrm>
            <a:off x="893255" y="1584102"/>
            <a:ext cx="10381297" cy="4253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We propose an </a:t>
            </a:r>
            <a:r>
              <a:rPr lang="en-US" sz="2400" b="1" dirty="0"/>
              <a:t>Agentic AI-based Pest and Disease Risk Assessment System</a:t>
            </a:r>
            <a:r>
              <a:rPr lang="en-US" sz="2400" dirty="0"/>
              <a:t> that: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Uses weather and historical pest 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Predicts pest/disease risk levels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Provides early warnings and preventive recommendations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Powered by </a:t>
            </a:r>
            <a:r>
              <a:rPr lang="en-US" sz="2400" b="1" dirty="0"/>
              <a:t>IBM Granite Model</a:t>
            </a:r>
            <a:r>
              <a:rPr lang="en-US" sz="2400" dirty="0"/>
              <a:t> using </a:t>
            </a:r>
            <a:r>
              <a:rPr lang="en-US" sz="2400" b="1" dirty="0"/>
              <a:t>Langflow Agentic AI architecture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48320-B634-92CD-C520-43B25557F859}"/>
              </a:ext>
            </a:extLst>
          </p:cNvPr>
          <p:cNvSpPr txBox="1"/>
          <p:nvPr/>
        </p:nvSpPr>
        <p:spPr>
          <a:xfrm>
            <a:off x="893255" y="741143"/>
            <a:ext cx="45391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Proposed solution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A01B5799-6C2E-7FE4-A2C6-734DB04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4CB905EF-62C2-FD1F-CE05-FBD2CBBD3921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D9ED1-DFE2-2CB1-E07B-2D3C44A85C9C}"/>
              </a:ext>
            </a:extLst>
          </p:cNvPr>
          <p:cNvSpPr txBox="1"/>
          <p:nvPr/>
        </p:nvSpPr>
        <p:spPr>
          <a:xfrm>
            <a:off x="1034441" y="524940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Need of project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F3E9D-0527-2FF2-E87C-9369E2B6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2AB3F3B9-EC3F-2423-CACB-5AC4944C6AF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34441" y="1551163"/>
            <a:ext cx="9733936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crop loss due to pests and diseases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intervention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farmers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AI-driven insights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agricultural productivity and sustainability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Assist agricultural officers in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103413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7C414-2D49-9E5D-A5D6-CF94524B9BE5}"/>
              </a:ext>
            </a:extLst>
          </p:cNvPr>
          <p:cNvSpPr txBox="1"/>
          <p:nvPr/>
        </p:nvSpPr>
        <p:spPr>
          <a:xfrm>
            <a:off x="995112" y="641261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End user of project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35EEB0D-BA24-E63A-6E96-858303F0383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95112" y="1336594"/>
            <a:ext cx="10274710" cy="2932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Farmers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Agricultural Officers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Agri-tech Companies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&amp; Policy Makers</a:t>
            </a:r>
          </a:p>
        </p:txBody>
      </p:sp>
    </p:spTree>
    <p:extLst>
      <p:ext uri="{BB962C8B-B14F-4D97-AF65-F5344CB8AC3E}">
        <p14:creationId xmlns:p14="http://schemas.microsoft.com/office/powerpoint/2010/main" val="428117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47743" y="232431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580103" y="622788"/>
            <a:ext cx="10673408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Langflow Platform</a:t>
            </a:r>
            <a:endParaRPr lang="en-IN" sz="2400" dirty="0"/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Agent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Chat Input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Chat Output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SearchApi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URL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IBM Granite Model</a:t>
            </a:r>
            <a:endParaRPr lang="en-IN" sz="2400" dirty="0"/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ibm-granite-3-2-8b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IBM Watsonx.ai</a:t>
            </a:r>
            <a:endParaRPr lang="en-I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IBM Cloud RAG (Retrieval Augmented Generation)</a:t>
            </a:r>
            <a:endParaRPr lang="en-IN" sz="24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2C005-E1BD-D1EA-4A68-50937DBC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7559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064264" y="1583562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2660000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3829113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6BD740-4294-408A-9014-7C75E9F5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00C0EEC-0144-FB9E-97E6-5D0B5256C33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49672" y="1777529"/>
            <a:ext cx="10078064" cy="224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crop images + climate data + GenAI Agentic reasoning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pest and disease risk prediction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Granite-guarded outputs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reliable, unbiased advice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solution for small and large farms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/>
        </p:nvSpPr>
        <p:spPr>
          <a:xfrm>
            <a:off x="1003545" y="364352"/>
            <a:ext cx="820782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Technical flow diagram - Architecture</a:t>
            </a:r>
            <a:r>
              <a:rPr lang="en-US" sz="2400" b="1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blueprint</a:t>
            </a:r>
            <a:endParaRPr lang="en-US" sz="2400" b="1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004CF-732B-B365-E320-17AD7B82A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0D23455E-20F6-FABE-5559-8E1CC12722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148" name="Picture 4" descr="Flow chart diagram of a Pest &amp; Disease Risk Assessment System inspired by the environmental alert architecture. It includes edge sensors like ESP32 with BME288 and MQ135 for field data collection, a data pipeline with enrichment APIs, a RAG layer using LangChain and WHO/bylaws for contextual risk documents, an AI planner using IBM watsonx.ai or LLaMA for action generation, a Granite Guardrail for filtering unsafe outputs, and user outputs like alerts via Twilio and visualizations via React/Leaflet. Cloud infrastructure includes IBM Cloud and AWS. Highlight risks like sensor data loss and unsafe recommendations.">
            <a:extLst>
              <a:ext uri="{FF2B5EF4-FFF2-40B4-BE49-F238E27FC236}">
                <a16:creationId xmlns:a16="http://schemas.microsoft.com/office/drawing/2014/main" id="{5919116C-8922-CE6D-E5DB-7B1C89C02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543" y="1268306"/>
            <a:ext cx="7670800" cy="4321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Langflow component Used </a:t>
            </a:r>
            <a:endParaRPr lang="en-US" sz="2400" b="1" i="0" u="none" strike="noStrike" cap="none" dirty="0">
              <a:solidFill>
                <a:srgbClr val="000000"/>
              </a:solidFill>
              <a:ea typeface="Times New Roman"/>
              <a:cs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1F3F401-5DE1-74E9-B512-0EA51EC3EE5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37589" y="638161"/>
            <a:ext cx="9963263" cy="5902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 Input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Watsonx AI Agent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/ RAG Component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 Output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2000" b="1" dirty="0"/>
              <a:t>Langflow Components Explanation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000" b="1" dirty="0"/>
              <a:t>Chat Input</a:t>
            </a:r>
            <a:endParaRPr lang="en-IN" sz="2000" dirty="0"/>
          </a:p>
          <a:p>
            <a:r>
              <a:rPr lang="en-IN" sz="2000" dirty="0"/>
              <a:t>Accepts crop details, symptoms, and images from farmers</a:t>
            </a:r>
          </a:p>
          <a:p>
            <a:r>
              <a:rPr lang="en-IN" sz="2000" b="1" dirty="0"/>
              <a:t>2) IBM Watsonx AI Agent</a:t>
            </a:r>
            <a:endParaRPr lang="en-IN" sz="2000" dirty="0"/>
          </a:p>
          <a:p>
            <a:r>
              <a:rPr lang="en-IN" sz="2000" dirty="0"/>
              <a:t>Performs reasoning, prediction, and decision-making</a:t>
            </a:r>
          </a:p>
          <a:p>
            <a:r>
              <a:rPr lang="en-IN" sz="2000" b="1" dirty="0"/>
              <a:t>3) File / RAG Component</a:t>
            </a:r>
            <a:endParaRPr lang="en-IN" sz="2000" dirty="0"/>
          </a:p>
          <a:p>
            <a:r>
              <a:rPr lang="en-IN" sz="2000" dirty="0"/>
              <a:t>Retrieves pest &amp; disease knowledge from agricultural datasets</a:t>
            </a:r>
          </a:p>
          <a:p>
            <a:r>
              <a:rPr lang="en-IN" sz="2000" b="1" dirty="0"/>
              <a:t>4) Chat Output</a:t>
            </a:r>
            <a:endParaRPr lang="en-IN" sz="2000" dirty="0"/>
          </a:p>
          <a:p>
            <a:r>
              <a:rPr lang="en-IN" sz="2000" dirty="0"/>
              <a:t>Displays risk assessment and recommended actions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IN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79FEC-4447-C4FA-64A4-CB532564DAF6}"/>
              </a:ext>
            </a:extLst>
          </p:cNvPr>
          <p:cNvSpPr txBox="1"/>
          <p:nvPr/>
        </p:nvSpPr>
        <p:spPr>
          <a:xfrm>
            <a:off x="838779" y="200739"/>
            <a:ext cx="4684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1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75A3865A-3596-5C2D-3FC4-FB703E11FA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72FD3823-E49D-F118-FDEE-A964734C99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6030E394-13EA-734A-2914-861049E8EB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49445" y="882445"/>
            <a:ext cx="3003755" cy="3003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4FE1E092-A2DB-DE1A-3463-0E3023AF0C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1818968"/>
            <a:ext cx="2067232" cy="2067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7875A0BE-188E-3972-4B9D-2C7748CECD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12">
            <a:extLst>
              <a:ext uri="{FF2B5EF4-FFF2-40B4-BE49-F238E27FC236}">
                <a16:creationId xmlns:a16="http://schemas.microsoft.com/office/drawing/2014/main" id="{81E310DA-5989-9299-6F0F-3E6F65E4EF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2903" y="1265903"/>
            <a:ext cx="2467897" cy="246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EACAED-FABA-D48F-3C14-B722CF1E3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529" y="1275735"/>
            <a:ext cx="8868697" cy="461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73DAA52-8E37-3B5B-D761-D8CFB110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8CF284-AD85-01F6-55AF-20E4B504353A}"/>
              </a:ext>
            </a:extLst>
          </p:cNvPr>
          <p:cNvSpPr txBox="1"/>
          <p:nvPr/>
        </p:nvSpPr>
        <p:spPr>
          <a:xfrm>
            <a:off x="838779" y="200739"/>
            <a:ext cx="4684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85B8E6-A736-5902-B905-D889FED4C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83C727AB-B0A6-330F-16E3-C596E0D4E7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A4187BF6-20CD-F656-D8DF-935DB3EADA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9B59F6AA-3035-14B1-5E57-1824F73CAD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49445" y="882445"/>
            <a:ext cx="3003755" cy="3003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B67260A2-4BFA-93C9-637E-82DCC101C6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1818968"/>
            <a:ext cx="2067232" cy="2067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B3D2ADB3-BBE9-173E-39B1-E56B8B3CD5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12">
            <a:extLst>
              <a:ext uri="{FF2B5EF4-FFF2-40B4-BE49-F238E27FC236}">
                <a16:creationId xmlns:a16="http://schemas.microsoft.com/office/drawing/2014/main" id="{CB8D8F9A-4FE3-5979-BE5F-6130CBA818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2903" y="1265903"/>
            <a:ext cx="2467897" cy="246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259FFD-D8A8-6500-FF0F-FAC2B14A1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026" y="1179871"/>
            <a:ext cx="8868697" cy="461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795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1ACF88B-2F75-CE59-3114-C1537EDD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FE5FD7-2292-570F-1397-1E9287F8CB9D}"/>
              </a:ext>
            </a:extLst>
          </p:cNvPr>
          <p:cNvSpPr txBox="1"/>
          <p:nvPr/>
        </p:nvSpPr>
        <p:spPr>
          <a:xfrm>
            <a:off x="1065320" y="138955"/>
            <a:ext cx="52607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1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72FD1-7A0B-E5B9-638C-B95C4CCF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6618BC-075B-59F1-117B-59CDA301C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74" y="688258"/>
            <a:ext cx="10461523" cy="522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84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E77274C-8DEA-6949-D867-CE0237B56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A2F5FA-CB9D-1DB6-744B-47DB4202F1BE}"/>
              </a:ext>
            </a:extLst>
          </p:cNvPr>
          <p:cNvSpPr txBox="1"/>
          <p:nvPr/>
        </p:nvSpPr>
        <p:spPr>
          <a:xfrm>
            <a:off x="1065320" y="138955"/>
            <a:ext cx="52607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74DF7E-D363-8757-82F5-BCFE841F6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9D5C9B-A18B-0D3D-3706-518FF7DA5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93" y="894735"/>
            <a:ext cx="10763324" cy="474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045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B1EE82E-9E59-D740-B767-3F4474348B6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19123" y="884410"/>
            <a:ext cx="9214580" cy="39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IoT sensors for real-time monitoring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application for farmers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Multilingual support (regional languages)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pesticide &amp; fertilizer 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advisory integration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/>
              <a:t>Analyzes crop images uploaded by farmers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https://github.com/Pavan-dr-321/pest-disease-and-risk-assessment-.git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app.py file , 2) your_hackthon_problemstatement.pdf file  3) your projectpresntation.pptx file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925A06-F7F9-F25E-EBB3-1891B3344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BDA5ADF-C9A0-CA5D-844A-6AC3872A0D8C}"/>
              </a:ext>
            </a:extLst>
          </p:cNvPr>
          <p:cNvSpPr/>
          <p:nvPr/>
        </p:nvSpPr>
        <p:spPr>
          <a:xfrm>
            <a:off x="1282732" y="68335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</a:pPr>
            <a:r>
              <a:rPr lang="en-US" sz="3500" b="1" dirty="0">
                <a:solidFill>
                  <a:srgbClr val="051D3A"/>
                </a:solidFill>
                <a:latin typeface="Times New Roman"/>
                <a:cs typeface="Times New Roman"/>
                <a:sym typeface="Times New Roman"/>
              </a:rPr>
              <a:t>References </a:t>
            </a:r>
            <a:endParaRPr lang="en-US" dirty="0"/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AF5AFD00-74FD-B439-5973-23933ABD88EC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D86E9480-AE0D-8F00-984F-1C0F8F53C1EC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8F2A10B-67AA-AAE6-232F-CFA602CB53A9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C95F8CEF-91B5-DD0D-C876-1BFF8ED80FBF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0EC5B-78FF-4D99-1A49-A2DD6DB4A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B19E9A1-6EDC-812E-19BD-2E868BCA825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70270" y="924233"/>
            <a:ext cx="9625782" cy="5624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b="1" dirty="0"/>
              <a:t>IBM watsonx.ai Documentation</a:t>
            </a:r>
            <a:br>
              <a:rPr lang="en-IN" sz="1600" dirty="0"/>
            </a:br>
            <a:r>
              <a:rPr lang="en-IN" sz="1600" dirty="0">
                <a:hlinkClick r:id="rId4"/>
              </a:rPr>
              <a:t>https://www.ibm.com/products/watsonx-ai</a:t>
            </a:r>
            <a:endParaRPr lang="en-IN" sz="1600" dirty="0"/>
          </a:p>
          <a:p>
            <a:r>
              <a:rPr lang="en-IN" sz="1600" b="1" dirty="0"/>
              <a:t>IBM Granite Foundation Models</a:t>
            </a:r>
            <a:br>
              <a:rPr lang="en-IN" sz="1600" dirty="0"/>
            </a:br>
            <a:r>
              <a:rPr lang="en-IN" sz="1600" dirty="0">
                <a:hlinkClick r:id="rId5"/>
              </a:rPr>
              <a:t>https://www.ibm.com/granite</a:t>
            </a:r>
            <a:endParaRPr lang="en-IN" sz="1600" dirty="0"/>
          </a:p>
          <a:p>
            <a:r>
              <a:rPr lang="en-IN" sz="1600" b="1" dirty="0"/>
              <a:t>Langflow – Agentic AI Workflow Platform</a:t>
            </a:r>
            <a:br>
              <a:rPr lang="en-IN" sz="1600" dirty="0"/>
            </a:br>
            <a:r>
              <a:rPr lang="en-IN" sz="1600" dirty="0">
                <a:hlinkClick r:id="rId6"/>
              </a:rPr>
              <a:t>https://www.langflow.org</a:t>
            </a:r>
            <a:endParaRPr lang="en-IN" sz="1600" dirty="0"/>
          </a:p>
          <a:p>
            <a:r>
              <a:rPr lang="en-IN" sz="1600" b="1" dirty="0"/>
              <a:t>FAO – Pest and Disease Risk Assessment Resources</a:t>
            </a:r>
            <a:br>
              <a:rPr lang="en-IN" sz="1600" dirty="0"/>
            </a:br>
            <a:r>
              <a:rPr lang="en-IN" sz="1600" dirty="0"/>
              <a:t>https://www.fao.org/plant-health/en/</a:t>
            </a:r>
          </a:p>
          <a:p>
            <a:r>
              <a:rPr lang="en-IN" sz="1600" b="1" dirty="0"/>
              <a:t>FAO – Integrated Pest Management (IPM)</a:t>
            </a:r>
            <a:br>
              <a:rPr lang="en-IN" sz="1600" dirty="0"/>
            </a:br>
            <a:r>
              <a:rPr lang="en-IN" sz="1600" dirty="0">
                <a:hlinkClick r:id="rId7"/>
              </a:rPr>
              <a:t>https://www.fao.org/agriculture/crops/thematic-sitemap/theme/pests/ipm/en/</a:t>
            </a:r>
            <a:endParaRPr lang="en-IN" sz="1600" dirty="0"/>
          </a:p>
          <a:p>
            <a:r>
              <a:rPr lang="en-IN" sz="1600" b="1" dirty="0"/>
              <a:t>World Health Organization (WHO) – Vector &amp; Pest Control Guidelines</a:t>
            </a:r>
            <a:br>
              <a:rPr lang="en-IN" sz="1600" dirty="0"/>
            </a:br>
            <a:r>
              <a:rPr lang="en-IN" sz="1600" dirty="0">
                <a:hlinkClick r:id="rId8"/>
              </a:rPr>
              <a:t>https://www.who.int/teams/control-of-neglected-tropical-diseases/vector-ecology-and-management</a:t>
            </a:r>
            <a:endParaRPr lang="en-IN" sz="1600" dirty="0"/>
          </a:p>
          <a:p>
            <a:r>
              <a:rPr lang="en-IN" sz="1600" b="1" dirty="0"/>
              <a:t>USDA – Crop Pest and Disease Management</a:t>
            </a:r>
            <a:br>
              <a:rPr lang="en-IN" sz="1600" dirty="0"/>
            </a:br>
            <a:r>
              <a:rPr lang="en-IN" sz="1600" dirty="0">
                <a:hlinkClick r:id="rId9"/>
              </a:rPr>
              <a:t>https://www.usda.gov/topics/crops</a:t>
            </a:r>
            <a:endParaRPr lang="en-IN" sz="1600" dirty="0"/>
          </a:p>
          <a:p>
            <a:r>
              <a:rPr lang="en-IN" sz="1600" b="1" dirty="0"/>
              <a:t>Research Paper: Deep Learning for Plant Disease Detection</a:t>
            </a:r>
            <a:br>
              <a:rPr lang="en-IN" sz="1600" dirty="0"/>
            </a:br>
            <a:r>
              <a:rPr lang="en-IN" sz="1600" dirty="0">
                <a:hlinkClick r:id="rId10"/>
              </a:rPr>
              <a:t>https://ieeexplore.ieee.org/document/8457012</a:t>
            </a:r>
            <a:endParaRPr lang="en-IN" sz="1600" dirty="0"/>
          </a:p>
          <a:p>
            <a:r>
              <a:rPr lang="en-IN" sz="1600" b="1" dirty="0"/>
              <a:t>Climate Data for Agriculture – World Meteorological Organization (WMO)</a:t>
            </a:r>
            <a:br>
              <a:rPr lang="en-IN" sz="1600" dirty="0"/>
            </a:br>
            <a:r>
              <a:rPr lang="en-IN" sz="1600" dirty="0">
                <a:hlinkClick r:id="rId11"/>
              </a:rPr>
              <a:t>https://public.wmo.int/en/our-mandate/climate</a:t>
            </a:r>
            <a:endParaRPr lang="en-IN" sz="1600" dirty="0"/>
          </a:p>
          <a:p>
            <a:r>
              <a:rPr lang="en-IN" sz="1600" b="1" dirty="0"/>
              <a:t>Retrieval Augmented Generation (RAG) – IBM Research</a:t>
            </a:r>
            <a:br>
              <a:rPr lang="en-IN" sz="1600" dirty="0"/>
            </a:br>
            <a:r>
              <a:rPr lang="en-IN" sz="1600" dirty="0">
                <a:hlinkClick r:id="rId12"/>
              </a:rPr>
              <a:t>https://research.ibm.com/blog/retrieval-augmented-generation</a:t>
            </a:r>
            <a:endParaRPr lang="en-IN" sz="1600" dirty="0"/>
          </a:p>
          <a:p>
            <a:endParaRPr lang="en-IN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56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9DDD0D-7A91-1E4E-00BA-F7FF05ABF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</TotalTime>
  <Words>689</Words>
  <Application>Microsoft Office PowerPoint</Application>
  <PresentationFormat>Widescreen</PresentationFormat>
  <Paragraphs>117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Office Theme</vt:lpstr>
      <vt:lpstr>Agentic AI Hackathon: AI Based System for Pest and Disease Risk Assessment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Punith Gowda G</cp:lastModifiedBy>
  <cp:revision>119</cp:revision>
  <dcterms:created xsi:type="dcterms:W3CDTF">2025-07-08T05:06:56Z</dcterms:created>
  <dcterms:modified xsi:type="dcterms:W3CDTF">2026-02-03T04:10:13Z</dcterms:modified>
</cp:coreProperties>
</file>